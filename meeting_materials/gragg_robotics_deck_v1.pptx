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29CBFAB-15DF-4868-A694-2CA28F187A5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827419-42D4-4166-BCB4-53067AC697C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8A8E58-0128-4ABB-90F1-D327F53E87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DC3856-4DF5-455A-9BB0-5CF4D88980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615CE5-8C4D-4549-937D-9B3476D963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C9C8CF-B761-4406-8F24-82290144383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F0CE8A-1CF7-49FA-ABFF-151AA290DD5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72CADD-DF7A-4281-8AE3-DEA6687CA73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B2CB81-4D3A-4CF4-B093-F40A152BF4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EC4B10-EDDF-47D8-B171-10565D4794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9F6313-4D02-4C85-9D3C-848F4E14AC2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684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6840" y="120312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848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422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84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42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548280" y="1577160"/>
            <a:ext cx="2880000" cy="2468880"/>
          </a:xfrm>
          <a:prstGeom prst="triangle">
            <a:avLst>
              <a:gd name="adj" fmla="val 50000"/>
            </a:avLst>
          </a:prstGeom>
          <a:solidFill>
            <a:srgbClr val="FF6B35"/>
          </a:solidFill>
          <a:ln w="1270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822600" y="1851480"/>
            <a:ext cx="2880000" cy="2468880"/>
          </a:xfrm>
          <a:prstGeom prst="triangle">
            <a:avLst>
              <a:gd name="adj" fmla="val 50000"/>
            </a:avLst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3977640" y="1714320"/>
            <a:ext cx="49374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601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GRAGG ROBOTICS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3977640" y="2091600"/>
            <a:ext cx="49374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Universal Multi-Drone Control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3977640" y="3154680"/>
            <a:ext cx="49374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One UI.  Any drone.  Any mission.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3977640" y="384048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8FA3BD"/>
                </a:solidFill>
                <a:effectLst/>
                <a:uFillTx/>
                <a:latin typeface="Calibri"/>
                <a:ea typeface="Calibri"/>
              </a:rPr>
              <a:t>Maine APEX Intake — Lucas Gragg, Founder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3977640" y="408060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FA3BD"/>
                </a:solidFill>
                <a:effectLst/>
                <a:uFillTx/>
                <a:latin typeface="Calibri"/>
                <a:ea typeface="Calibri"/>
              </a:rPr>
              <a:t>April 2026  •  Waterville, ME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411480" y="3085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The Problem with Drone Fleets Today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411480" y="85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Multi-drone operations are stuck in single-pilot, single-vendor world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2"/>
          <p:cNvSpPr/>
          <p:nvPr/>
        </p:nvSpPr>
        <p:spPr>
          <a:xfrm>
            <a:off x="411120" y="1405800"/>
            <a:ext cx="2674440" cy="3085920"/>
          </a:xfrm>
          <a:prstGeom prst="roundRect">
            <a:avLst>
              <a:gd name="adj" fmla="val 2564"/>
            </a:avLst>
          </a:prstGeom>
          <a:solidFill>
            <a:srgbClr val="152B47"/>
          </a:solidFill>
          <a:ln w="12700">
            <a:solidFill>
              <a:srgbClr val="1F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3"/>
          <p:cNvSpPr/>
          <p:nvPr/>
        </p:nvSpPr>
        <p:spPr>
          <a:xfrm>
            <a:off x="617040" y="1645560"/>
            <a:ext cx="617040" cy="6170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617040" y="1645920"/>
            <a:ext cx="61668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A1628"/>
                </a:solidFill>
                <a:effectLst/>
                <a:uFillTx/>
                <a:latin typeface="Arial Black"/>
                <a:ea typeface="Arial Black"/>
              </a:rPr>
              <a:t>1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617040" y="2400120"/>
            <a:ext cx="2262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D4FF"/>
                </a:solidFill>
                <a:effectLst/>
                <a:uFillTx/>
                <a:latin typeface="Arial Black"/>
                <a:ea typeface="Arial Black"/>
              </a:rPr>
              <a:t>ONE PILOT PER DRONE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6"/>
          <p:cNvSpPr/>
          <p:nvPr/>
        </p:nvSpPr>
        <p:spPr>
          <a:xfrm>
            <a:off x="617040" y="2983320"/>
            <a:ext cx="22629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Even with 'autonomy,' real ops require a dedicated operator per airframe. A 4-drone job needs 4 operators — labor cost kills ROI.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7"/>
          <p:cNvSpPr/>
          <p:nvPr/>
        </p:nvSpPr>
        <p:spPr>
          <a:xfrm>
            <a:off x="3223080" y="1405800"/>
            <a:ext cx="2674440" cy="3085920"/>
          </a:xfrm>
          <a:prstGeom prst="roundRect">
            <a:avLst>
              <a:gd name="adj" fmla="val 2564"/>
            </a:avLst>
          </a:prstGeom>
          <a:solidFill>
            <a:srgbClr val="152B47"/>
          </a:solidFill>
          <a:ln w="12700">
            <a:solidFill>
              <a:srgbClr val="1F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8"/>
          <p:cNvSpPr/>
          <p:nvPr/>
        </p:nvSpPr>
        <p:spPr>
          <a:xfrm>
            <a:off x="3428640" y="1645560"/>
            <a:ext cx="617040" cy="6170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9"/>
          <p:cNvSpPr/>
          <p:nvPr/>
        </p:nvSpPr>
        <p:spPr>
          <a:xfrm>
            <a:off x="3429000" y="1645920"/>
            <a:ext cx="61668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A1628"/>
                </a:solidFill>
                <a:effectLst/>
                <a:uFillTx/>
                <a:latin typeface="Arial Black"/>
                <a:ea typeface="Arial Black"/>
              </a:rPr>
              <a:t>2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0"/>
          <p:cNvSpPr/>
          <p:nvPr/>
        </p:nvSpPr>
        <p:spPr>
          <a:xfrm>
            <a:off x="3429000" y="2400120"/>
            <a:ext cx="2262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D4FF"/>
                </a:solidFill>
                <a:effectLst/>
                <a:uFillTx/>
                <a:latin typeface="Arial Black"/>
                <a:ea typeface="Arial Black"/>
              </a:rPr>
              <a:t>VENDOR LOCK-IN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3429000" y="2983320"/>
            <a:ext cx="22626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Every manufacturer ships its own ground station. DJI, Skydio, Parrot, Anduril — none talk to each other. Mixed fleets are unmanageable.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2"/>
          <p:cNvSpPr/>
          <p:nvPr/>
        </p:nvSpPr>
        <p:spPr>
          <a:xfrm>
            <a:off x="6034680" y="1405800"/>
            <a:ext cx="2674440" cy="3085920"/>
          </a:xfrm>
          <a:prstGeom prst="roundRect">
            <a:avLst>
              <a:gd name="adj" fmla="val 2564"/>
            </a:avLst>
          </a:prstGeom>
          <a:solidFill>
            <a:srgbClr val="152B47"/>
          </a:solidFill>
          <a:ln w="12700">
            <a:solidFill>
              <a:srgbClr val="1F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3"/>
          <p:cNvSpPr/>
          <p:nvPr/>
        </p:nvSpPr>
        <p:spPr>
          <a:xfrm>
            <a:off x="6240600" y="1645560"/>
            <a:ext cx="617040" cy="6170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4"/>
          <p:cNvSpPr/>
          <p:nvPr/>
        </p:nvSpPr>
        <p:spPr>
          <a:xfrm>
            <a:off x="6240600" y="1645920"/>
            <a:ext cx="61668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A1628"/>
                </a:solidFill>
                <a:effectLst/>
                <a:uFillTx/>
                <a:latin typeface="Arial Black"/>
                <a:ea typeface="Arial Black"/>
              </a:rPr>
              <a:t>3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5"/>
          <p:cNvSpPr/>
          <p:nvPr/>
        </p:nvSpPr>
        <p:spPr>
          <a:xfrm>
            <a:off x="6240600" y="2400120"/>
            <a:ext cx="2262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D4FF"/>
                </a:solidFill>
                <a:effectLst/>
                <a:uFillTx/>
                <a:latin typeface="Arial Black"/>
                <a:ea typeface="Arial Black"/>
              </a:rPr>
              <a:t>MISSION PLANNING IS BRITTLE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6"/>
          <p:cNvSpPr/>
          <p:nvPr/>
        </p:nvSpPr>
        <p:spPr>
          <a:xfrm>
            <a:off x="6240240" y="2983320"/>
            <a:ext cx="22629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Pre-flight scripts, no in-flight re-tasking, no real-time target handoff. When the mission changes mid-flight, the operator land-restarts.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7"/>
          <p:cNvSpPr/>
          <p:nvPr/>
        </p:nvSpPr>
        <p:spPr>
          <a:xfrm>
            <a:off x="411480" y="4834800"/>
            <a:ext cx="27428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300" strike="noStrike">
                <a:solidFill>
                  <a:srgbClr val="8FA3BD"/>
                </a:solidFill>
                <a:effectLst/>
                <a:uFillTx/>
                <a:latin typeface="Calibri"/>
                <a:ea typeface="Calibri"/>
              </a:rPr>
              <a:t>GRAGG ROBOTICS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8"/>
          <p:cNvSpPr/>
          <p:nvPr/>
        </p:nvSpPr>
        <p:spPr>
          <a:xfrm>
            <a:off x="8023680" y="4834800"/>
            <a:ext cx="6854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FA3BD"/>
                </a:solidFill>
                <a:effectLst/>
                <a:uFillTx/>
                <a:latin typeface="Calibri"/>
                <a:ea typeface="Calibri"/>
              </a:rPr>
              <a:t>2 / 10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/>
          <p:nvPr/>
        </p:nvSpPr>
        <p:spPr>
          <a:xfrm>
            <a:off x="411480" y="3085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Our Solution: Universal Stack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"/>
          <p:cNvSpPr/>
          <p:nvPr/>
        </p:nvSpPr>
        <p:spPr>
          <a:xfrm>
            <a:off x="411480" y="85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Decouple the control layer from the airframe — one operator, any drone, any mission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"/>
          <p:cNvSpPr/>
          <p:nvPr/>
        </p:nvSpPr>
        <p:spPr>
          <a:xfrm>
            <a:off x="411120" y="1337400"/>
            <a:ext cx="4114800" cy="3223080"/>
          </a:xfrm>
          <a:prstGeom prst="roundRect">
            <a:avLst>
              <a:gd name="adj" fmla="val 3191"/>
            </a:avLst>
          </a:prstGeom>
          <a:solidFill>
            <a:srgbClr val="152B47"/>
          </a:solidFill>
          <a:ln w="254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3"/>
          <p:cNvSpPr/>
          <p:nvPr/>
        </p:nvSpPr>
        <p:spPr>
          <a:xfrm>
            <a:off x="685800" y="161172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601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SOFTWARE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4"/>
          <p:cNvSpPr/>
          <p:nvPr/>
        </p:nvSpPr>
        <p:spPr>
          <a:xfrm>
            <a:off x="685800" y="1988640"/>
            <a:ext cx="35658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MULTI-DRONE RTS UI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5"/>
          <p:cNvSpPr/>
          <p:nvPr/>
        </p:nvSpPr>
        <p:spPr>
          <a:xfrm>
            <a:off x="685440" y="2914560"/>
            <a:ext cx="356616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One operator commands a fleet of 4-12 drones in real time. RTS-style point-and-click targeting, group selection, mission re-tasking mid-flight. MAVLink-native — works with Pixhawk, PX4, ArduPilot.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6"/>
          <p:cNvSpPr/>
          <p:nvPr/>
        </p:nvSpPr>
        <p:spPr>
          <a:xfrm>
            <a:off x="4663080" y="1337400"/>
            <a:ext cx="4114800" cy="3223080"/>
          </a:xfrm>
          <a:prstGeom prst="roundRect">
            <a:avLst>
              <a:gd name="adj" fmla="val 3191"/>
            </a:avLst>
          </a:prstGeom>
          <a:solidFill>
            <a:srgbClr val="152B47"/>
          </a:solidFill>
          <a:ln w="2540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7"/>
          <p:cNvSpPr/>
          <p:nvPr/>
        </p:nvSpPr>
        <p:spPr>
          <a:xfrm>
            <a:off x="4937760" y="161172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601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HARDWARE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8"/>
          <p:cNvSpPr/>
          <p:nvPr/>
        </p:nvSpPr>
        <p:spPr>
          <a:xfrm>
            <a:off x="4937760" y="1988640"/>
            <a:ext cx="35658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UNIVERSAL SENSOR / CONTROL POD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9"/>
          <p:cNvSpPr/>
          <p:nvPr/>
        </p:nvSpPr>
        <p:spPr>
          <a:xfrm>
            <a:off x="4937760" y="2914560"/>
            <a:ext cx="356580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Bolt-on companion compute + sensor stack + long-range mesh radio. Standardized power + mount adapter. Retrofits onto any compatible airframe — turns existing drones into swarm-capable assets.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0"/>
          <p:cNvSpPr/>
          <p:nvPr/>
        </p:nvSpPr>
        <p:spPr>
          <a:xfrm>
            <a:off x="411480" y="4697640"/>
            <a:ext cx="8297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pc="400" strike="noStrike">
                <a:solidFill>
                  <a:srgbClr val="4AE54A"/>
                </a:solidFill>
                <a:effectLst/>
                <a:uFillTx/>
                <a:latin typeface="Arial Black"/>
                <a:ea typeface="Arial Black"/>
              </a:rPr>
              <a:t>ONE OPERATOR  ×  ANY FLEET  =  10× LABOR LEVERAGE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1"/>
          <p:cNvSpPr/>
          <p:nvPr/>
        </p:nvSpPr>
        <p:spPr>
          <a:xfrm>
            <a:off x="411480" y="4834800"/>
            <a:ext cx="27428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300" strike="noStrike">
                <a:solidFill>
                  <a:srgbClr val="8FA3BD"/>
                </a:solidFill>
                <a:effectLst/>
                <a:uFillTx/>
                <a:latin typeface="Calibri"/>
                <a:ea typeface="Calibri"/>
              </a:rPr>
              <a:t>GRAGG ROBOTICS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2"/>
          <p:cNvSpPr/>
          <p:nvPr/>
        </p:nvSpPr>
        <p:spPr>
          <a:xfrm>
            <a:off x="8023680" y="4834800"/>
            <a:ext cx="6854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FA3BD"/>
                </a:solidFill>
                <a:effectLst/>
                <a:uFillTx/>
                <a:latin typeface="Calibri"/>
                <a:ea typeface="Calibri"/>
              </a:rPr>
              <a:t>3 / 10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/>
          <p:cNvSpPr/>
          <p:nvPr/>
        </p:nvSpPr>
        <p:spPr>
          <a:xfrm>
            <a:off x="411480" y="3085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Software: 6 Command Primitives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411480" y="85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Built around how a real operator thinks under pressure — not how a coder thinks about state machines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"/>
          <p:cNvSpPr/>
          <p:nvPr/>
        </p:nvSpPr>
        <p:spPr>
          <a:xfrm>
            <a:off x="342720" y="1337040"/>
            <a:ext cx="2777400" cy="1542960"/>
          </a:xfrm>
          <a:prstGeom prst="roundRect">
            <a:avLst>
              <a:gd name="adj" fmla="val 4444"/>
            </a:avLst>
          </a:prstGeom>
          <a:solidFill>
            <a:srgbClr val="152B47"/>
          </a:solidFill>
          <a:ln w="12700">
            <a:solidFill>
              <a:srgbClr val="1F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3"/>
          <p:cNvSpPr/>
          <p:nvPr/>
        </p:nvSpPr>
        <p:spPr>
          <a:xfrm>
            <a:off x="514080" y="147456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6B35"/>
                </a:solidFill>
                <a:effectLst/>
                <a:uFillTx/>
                <a:latin typeface="Arial Black"/>
                <a:ea typeface="Arial Black"/>
              </a:rPr>
              <a:t>01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4"/>
          <p:cNvSpPr/>
          <p:nvPr/>
        </p:nvSpPr>
        <p:spPr>
          <a:xfrm>
            <a:off x="514080" y="1748520"/>
            <a:ext cx="2502720" cy="4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TARGET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5"/>
          <p:cNvSpPr/>
          <p:nvPr/>
        </p:nvSpPr>
        <p:spPr>
          <a:xfrm>
            <a:off x="514080" y="2228760"/>
            <a:ext cx="2502720" cy="5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FA3BD"/>
                </a:solidFill>
                <a:effectLst/>
                <a:uFillTx/>
                <a:latin typeface="Calibri"/>
                <a:ea typeface="Calibri"/>
              </a:rPr>
              <a:t>Lock onto a target — drone holds position and watches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6"/>
          <p:cNvSpPr/>
          <p:nvPr/>
        </p:nvSpPr>
        <p:spPr>
          <a:xfrm>
            <a:off x="3223080" y="1337040"/>
            <a:ext cx="2777400" cy="1542960"/>
          </a:xfrm>
          <a:prstGeom prst="roundRect">
            <a:avLst>
              <a:gd name="adj" fmla="val 4444"/>
            </a:avLst>
          </a:prstGeom>
          <a:solidFill>
            <a:srgbClr val="152B47"/>
          </a:solidFill>
          <a:ln w="12700">
            <a:solidFill>
              <a:srgbClr val="1F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7"/>
          <p:cNvSpPr/>
          <p:nvPr/>
        </p:nvSpPr>
        <p:spPr>
          <a:xfrm>
            <a:off x="3394440" y="147456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6B35"/>
                </a:solidFill>
                <a:effectLst/>
                <a:uFillTx/>
                <a:latin typeface="Arial Black"/>
                <a:ea typeface="Arial Black"/>
              </a:rPr>
              <a:t>02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8"/>
          <p:cNvSpPr/>
          <p:nvPr/>
        </p:nvSpPr>
        <p:spPr>
          <a:xfrm>
            <a:off x="3394440" y="1748520"/>
            <a:ext cx="2502720" cy="4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FOLLOW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9"/>
          <p:cNvSpPr/>
          <p:nvPr/>
        </p:nvSpPr>
        <p:spPr>
          <a:xfrm>
            <a:off x="3394440" y="2228760"/>
            <a:ext cx="2502720" cy="5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FA3BD"/>
                </a:solidFill>
                <a:effectLst/>
                <a:uFillTx/>
                <a:latin typeface="Calibri"/>
                <a:ea typeface="Calibri"/>
              </a:rPr>
              <a:t>Shadow a moving target at operator-set standoff distance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0"/>
          <p:cNvSpPr/>
          <p:nvPr/>
        </p:nvSpPr>
        <p:spPr>
          <a:xfrm>
            <a:off x="6103440" y="1337040"/>
            <a:ext cx="2777400" cy="1542960"/>
          </a:xfrm>
          <a:prstGeom prst="roundRect">
            <a:avLst>
              <a:gd name="adj" fmla="val 4444"/>
            </a:avLst>
          </a:prstGeom>
          <a:solidFill>
            <a:srgbClr val="152B47"/>
          </a:solidFill>
          <a:ln w="12700">
            <a:solidFill>
              <a:srgbClr val="1F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1"/>
          <p:cNvSpPr/>
          <p:nvPr/>
        </p:nvSpPr>
        <p:spPr>
          <a:xfrm>
            <a:off x="6274800" y="147456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6B35"/>
                </a:solidFill>
                <a:effectLst/>
                <a:uFillTx/>
                <a:latin typeface="Arial Black"/>
                <a:ea typeface="Arial Black"/>
              </a:rPr>
              <a:t>03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2"/>
          <p:cNvSpPr/>
          <p:nvPr/>
        </p:nvSpPr>
        <p:spPr>
          <a:xfrm>
            <a:off x="6274800" y="1748520"/>
            <a:ext cx="2502720" cy="4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SWEEP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3"/>
          <p:cNvSpPr/>
          <p:nvPr/>
        </p:nvSpPr>
        <p:spPr>
          <a:xfrm>
            <a:off x="6274800" y="2228760"/>
            <a:ext cx="2502720" cy="5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FA3BD"/>
                </a:solidFill>
                <a:effectLst/>
                <a:uFillTx/>
                <a:latin typeface="Calibri"/>
                <a:ea typeface="Calibri"/>
              </a:rPr>
              <a:t>Expanding-spiral search, auto-engages on detection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4"/>
          <p:cNvSpPr/>
          <p:nvPr/>
        </p:nvSpPr>
        <p:spPr>
          <a:xfrm>
            <a:off x="342720" y="3017520"/>
            <a:ext cx="2777400" cy="1542960"/>
          </a:xfrm>
          <a:prstGeom prst="roundRect">
            <a:avLst>
              <a:gd name="adj" fmla="val 4444"/>
            </a:avLst>
          </a:prstGeom>
          <a:solidFill>
            <a:srgbClr val="152B47"/>
          </a:solidFill>
          <a:ln w="12700">
            <a:solidFill>
              <a:srgbClr val="1F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5"/>
          <p:cNvSpPr/>
          <p:nvPr/>
        </p:nvSpPr>
        <p:spPr>
          <a:xfrm>
            <a:off x="514080" y="315468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6B35"/>
                </a:solidFill>
                <a:effectLst/>
                <a:uFillTx/>
                <a:latin typeface="Arial Black"/>
                <a:ea typeface="Arial Black"/>
              </a:rPr>
              <a:t>04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6"/>
          <p:cNvSpPr/>
          <p:nvPr/>
        </p:nvSpPr>
        <p:spPr>
          <a:xfrm>
            <a:off x="514080" y="3429000"/>
            <a:ext cx="2502720" cy="4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WAYPOINT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7"/>
          <p:cNvSpPr/>
          <p:nvPr/>
        </p:nvSpPr>
        <p:spPr>
          <a:xfrm>
            <a:off x="514080" y="3908880"/>
            <a:ext cx="2502720" cy="5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FA3BD"/>
                </a:solidFill>
                <a:effectLst/>
                <a:uFillTx/>
                <a:latin typeface="Calibri"/>
                <a:ea typeface="Calibri"/>
              </a:rPr>
              <a:t>Click map, drone flies there at mission altitude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8"/>
          <p:cNvSpPr/>
          <p:nvPr/>
        </p:nvSpPr>
        <p:spPr>
          <a:xfrm>
            <a:off x="3223080" y="3017520"/>
            <a:ext cx="2777400" cy="1542960"/>
          </a:xfrm>
          <a:prstGeom prst="roundRect">
            <a:avLst>
              <a:gd name="adj" fmla="val 4444"/>
            </a:avLst>
          </a:prstGeom>
          <a:solidFill>
            <a:srgbClr val="152B47"/>
          </a:solidFill>
          <a:ln w="12700">
            <a:solidFill>
              <a:srgbClr val="1F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9"/>
          <p:cNvSpPr/>
          <p:nvPr/>
        </p:nvSpPr>
        <p:spPr>
          <a:xfrm>
            <a:off x="3394440" y="315468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6B35"/>
                </a:solidFill>
                <a:effectLst/>
                <a:uFillTx/>
                <a:latin typeface="Arial Black"/>
                <a:ea typeface="Arial Black"/>
              </a:rPr>
              <a:t>05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0"/>
          <p:cNvSpPr/>
          <p:nvPr/>
        </p:nvSpPr>
        <p:spPr>
          <a:xfrm>
            <a:off x="3394440" y="3429000"/>
            <a:ext cx="2502720" cy="4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GO HOME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1"/>
          <p:cNvSpPr/>
          <p:nvPr/>
        </p:nvSpPr>
        <p:spPr>
          <a:xfrm>
            <a:off x="3394440" y="3908880"/>
            <a:ext cx="2502720" cy="5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FA3BD"/>
                </a:solidFill>
                <a:effectLst/>
                <a:uFillTx/>
                <a:latin typeface="Calibri"/>
                <a:ea typeface="Calibri"/>
              </a:rPr>
              <a:t>Return to base + auto-land on arrival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2"/>
          <p:cNvSpPr/>
          <p:nvPr/>
        </p:nvSpPr>
        <p:spPr>
          <a:xfrm>
            <a:off x="6103440" y="3017520"/>
            <a:ext cx="2777400" cy="1542960"/>
          </a:xfrm>
          <a:prstGeom prst="roundRect">
            <a:avLst>
              <a:gd name="adj" fmla="val 4444"/>
            </a:avLst>
          </a:prstGeom>
          <a:solidFill>
            <a:srgbClr val="152B47"/>
          </a:solidFill>
          <a:ln w="12700">
            <a:solidFill>
              <a:srgbClr val="1F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3"/>
          <p:cNvSpPr/>
          <p:nvPr/>
        </p:nvSpPr>
        <p:spPr>
          <a:xfrm>
            <a:off x="6274800" y="3154680"/>
            <a:ext cx="685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6B35"/>
                </a:solidFill>
                <a:effectLst/>
                <a:uFillTx/>
                <a:latin typeface="Arial Black"/>
                <a:ea typeface="Arial Black"/>
              </a:rPr>
              <a:t>06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4"/>
          <p:cNvSpPr/>
          <p:nvPr/>
        </p:nvSpPr>
        <p:spPr>
          <a:xfrm>
            <a:off x="6274800" y="3429000"/>
            <a:ext cx="2502720" cy="4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ENGAGE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5"/>
          <p:cNvSpPr/>
          <p:nvPr/>
        </p:nvSpPr>
        <p:spPr>
          <a:xfrm>
            <a:off x="6274800" y="3908880"/>
            <a:ext cx="2502720" cy="5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FA3BD"/>
                </a:solidFill>
                <a:effectLst/>
                <a:uFillTx/>
                <a:latin typeface="Calibri"/>
                <a:ea typeface="Calibri"/>
              </a:rPr>
              <a:t>Close to strike radius — terminal action on locked target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6"/>
          <p:cNvSpPr/>
          <p:nvPr/>
        </p:nvSpPr>
        <p:spPr>
          <a:xfrm>
            <a:off x="342720" y="4594680"/>
            <a:ext cx="843480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Plus:  Group select (A/B/C/D)  •  Per-drone POV cam  •  Satellite map  •  GPS-locked overlays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7"/>
          <p:cNvSpPr/>
          <p:nvPr/>
        </p:nvSpPr>
        <p:spPr>
          <a:xfrm>
            <a:off x="411480" y="4834800"/>
            <a:ext cx="27428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300" strike="noStrike">
                <a:solidFill>
                  <a:srgbClr val="8FA3BD"/>
                </a:solidFill>
                <a:effectLst/>
                <a:uFillTx/>
                <a:latin typeface="Calibri"/>
                <a:ea typeface="Calibri"/>
              </a:rPr>
              <a:t>GRAGG ROBOTICS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8"/>
          <p:cNvSpPr/>
          <p:nvPr/>
        </p:nvSpPr>
        <p:spPr>
          <a:xfrm>
            <a:off x="8023680" y="4834800"/>
            <a:ext cx="6854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FA3BD"/>
                </a:solidFill>
                <a:effectLst/>
                <a:uFillTx/>
                <a:latin typeface="Calibri"/>
                <a:ea typeface="Calibri"/>
              </a:rPr>
              <a:t>4 / 10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/>
          <p:nvPr/>
        </p:nvSpPr>
        <p:spPr>
          <a:xfrm>
            <a:off x="411480" y="3085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Hardware: Universal Sensor / Control Pod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"/>
          <p:cNvSpPr/>
          <p:nvPr/>
        </p:nvSpPr>
        <p:spPr>
          <a:xfrm>
            <a:off x="411480" y="85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One bolt-on package retrofits onto any Pixhawk / PX4 / ArduPilot airframe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"/>
          <p:cNvSpPr/>
          <p:nvPr/>
        </p:nvSpPr>
        <p:spPr>
          <a:xfrm>
            <a:off x="411120" y="1337400"/>
            <a:ext cx="4457520" cy="3325680"/>
          </a:xfrm>
          <a:prstGeom prst="roundRect">
            <a:avLst>
              <a:gd name="adj" fmla="val 2062"/>
            </a:avLst>
          </a:prstGeom>
          <a:solidFill>
            <a:srgbClr val="152B47"/>
          </a:solidFill>
          <a:ln w="12700">
            <a:solidFill>
              <a:srgbClr val="1F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3"/>
          <p:cNvSpPr/>
          <p:nvPr/>
        </p:nvSpPr>
        <p:spPr>
          <a:xfrm>
            <a:off x="582840" y="14400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601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SPEC SHEET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4"/>
          <p:cNvSpPr/>
          <p:nvPr/>
        </p:nvSpPr>
        <p:spPr>
          <a:xfrm>
            <a:off x="582840" y="1817280"/>
            <a:ext cx="116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D4FF"/>
                </a:solidFill>
                <a:effectLst/>
                <a:uFillTx/>
                <a:latin typeface="Arial Black"/>
                <a:ea typeface="Arial Black"/>
              </a:rPr>
              <a:t>COMPUTE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5"/>
          <p:cNvSpPr/>
          <p:nvPr/>
        </p:nvSpPr>
        <p:spPr>
          <a:xfrm>
            <a:off x="1851480" y="1817280"/>
            <a:ext cx="294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Raspberry Pi 5 (POC) or Jetson Orin Nano / NX (production)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6"/>
          <p:cNvSpPr/>
          <p:nvPr/>
        </p:nvSpPr>
        <p:spPr>
          <a:xfrm>
            <a:off x="582840" y="2160360"/>
            <a:ext cx="116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D4FF"/>
                </a:solidFill>
                <a:effectLst/>
                <a:uFillTx/>
                <a:latin typeface="Arial Black"/>
                <a:ea typeface="Arial Black"/>
              </a:rPr>
              <a:t>VISIBLE CAM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7"/>
          <p:cNvSpPr/>
          <p:nvPr/>
        </p:nvSpPr>
        <p:spPr>
          <a:xfrm>
            <a:off x="1851480" y="2160360"/>
            <a:ext cx="294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Sony IMX477 12MP, gimbal-ready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8"/>
          <p:cNvSpPr/>
          <p:nvPr/>
        </p:nvSpPr>
        <p:spPr>
          <a:xfrm>
            <a:off x="582840" y="2503080"/>
            <a:ext cx="116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D4FF"/>
                </a:solidFill>
                <a:effectLst/>
                <a:uFillTx/>
                <a:latin typeface="Arial Black"/>
                <a:ea typeface="Arial Black"/>
              </a:rPr>
              <a:t>THERMAL CAM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9"/>
          <p:cNvSpPr/>
          <p:nvPr/>
        </p:nvSpPr>
        <p:spPr>
          <a:xfrm>
            <a:off x="1851120" y="2503080"/>
            <a:ext cx="2948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FLIR Lepton 3.5 (production tier)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0"/>
          <p:cNvSpPr/>
          <p:nvPr/>
        </p:nvSpPr>
        <p:spPr>
          <a:xfrm>
            <a:off x="582480" y="2846160"/>
            <a:ext cx="1165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D4FF"/>
                </a:solidFill>
                <a:effectLst/>
                <a:uFillTx/>
                <a:latin typeface="Arial Black"/>
                <a:ea typeface="Arial Black"/>
              </a:rPr>
              <a:t>LIDAR (opt)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1"/>
          <p:cNvSpPr/>
          <p:nvPr/>
        </p:nvSpPr>
        <p:spPr>
          <a:xfrm>
            <a:off x="1851120" y="2846160"/>
            <a:ext cx="2948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Livox Mid-360 360° scanning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2"/>
          <p:cNvSpPr/>
          <p:nvPr/>
        </p:nvSpPr>
        <p:spPr>
          <a:xfrm>
            <a:off x="582840" y="3188880"/>
            <a:ext cx="116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D4FF"/>
                </a:solidFill>
                <a:effectLst/>
                <a:uFillTx/>
                <a:latin typeface="Arial Black"/>
                <a:ea typeface="Arial Black"/>
              </a:rPr>
              <a:t>MESH RADIO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3"/>
          <p:cNvSpPr/>
          <p:nvPr/>
        </p:nvSpPr>
        <p:spPr>
          <a:xfrm>
            <a:off x="1851480" y="3188880"/>
            <a:ext cx="294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RFD900 long-range or Doodle Labs Helix mesh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4"/>
          <p:cNvSpPr/>
          <p:nvPr/>
        </p:nvSpPr>
        <p:spPr>
          <a:xfrm>
            <a:off x="582480" y="3531960"/>
            <a:ext cx="1165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D4FF"/>
                </a:solidFill>
                <a:effectLst/>
                <a:uFillTx/>
                <a:latin typeface="Arial Black"/>
                <a:ea typeface="Arial Black"/>
              </a:rPr>
              <a:t>FC INTERFACE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5"/>
          <p:cNvSpPr/>
          <p:nvPr/>
        </p:nvSpPr>
        <p:spPr>
          <a:xfrm>
            <a:off x="1851120" y="3531960"/>
            <a:ext cx="2948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MAVLink over UART — vendor-agnostic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6"/>
          <p:cNvSpPr/>
          <p:nvPr/>
        </p:nvSpPr>
        <p:spPr>
          <a:xfrm>
            <a:off x="582840" y="3874680"/>
            <a:ext cx="1165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D4FF"/>
                </a:solidFill>
                <a:effectLst/>
                <a:uFillTx/>
                <a:latin typeface="Arial Black"/>
                <a:ea typeface="Arial Black"/>
              </a:rPr>
              <a:t>MOUNT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7"/>
          <p:cNvSpPr/>
          <p:nvPr/>
        </p:nvSpPr>
        <p:spPr>
          <a:xfrm>
            <a:off x="1851480" y="3874680"/>
            <a:ext cx="294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Standard 30.5×30.5 mm pattern + universal power adapter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8"/>
          <p:cNvSpPr/>
          <p:nvPr/>
        </p:nvSpPr>
        <p:spPr>
          <a:xfrm>
            <a:off x="582480" y="4217760"/>
            <a:ext cx="1165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D4FF"/>
                </a:solidFill>
                <a:effectLst/>
                <a:uFillTx/>
                <a:latin typeface="Arial Black"/>
                <a:ea typeface="Arial Black"/>
              </a:rPr>
              <a:t>WEIGHT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9"/>
          <p:cNvSpPr/>
          <p:nvPr/>
        </p:nvSpPr>
        <p:spPr>
          <a:xfrm>
            <a:off x="1851480" y="4217760"/>
            <a:ext cx="2948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~280 g (POC pod)  /  ~520 g (production pod)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20"/>
          <p:cNvSpPr/>
          <p:nvPr/>
        </p:nvSpPr>
        <p:spPr>
          <a:xfrm>
            <a:off x="5074920" y="1337040"/>
            <a:ext cx="3634200" cy="994320"/>
          </a:xfrm>
          <a:prstGeom prst="roundRect">
            <a:avLst>
              <a:gd name="adj" fmla="val 6897"/>
            </a:avLst>
          </a:prstGeom>
          <a:solidFill>
            <a:srgbClr val="152B47"/>
          </a:solidFill>
          <a:ln w="2540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1"/>
          <p:cNvSpPr/>
          <p:nvPr/>
        </p:nvSpPr>
        <p:spPr>
          <a:xfrm>
            <a:off x="5177520" y="1405800"/>
            <a:ext cx="1508400" cy="8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6B35"/>
                </a:solidFill>
                <a:effectLst/>
                <a:uFillTx/>
                <a:latin typeface="Arial Black"/>
                <a:ea typeface="Arial Black"/>
              </a:rPr>
              <a:t>$660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2"/>
          <p:cNvSpPr/>
          <p:nvPr/>
        </p:nvSpPr>
        <p:spPr>
          <a:xfrm>
            <a:off x="6754680" y="1577160"/>
            <a:ext cx="18514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POC pod cost / drone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3"/>
          <p:cNvSpPr/>
          <p:nvPr/>
        </p:nvSpPr>
        <p:spPr>
          <a:xfrm>
            <a:off x="6754680" y="1920240"/>
            <a:ext cx="185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8FA3BD"/>
                </a:solidFill>
                <a:effectLst/>
                <a:uFillTx/>
                <a:latin typeface="Calibri"/>
                <a:ea typeface="Calibri"/>
              </a:rPr>
              <a:t>POC tier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4"/>
          <p:cNvSpPr/>
          <p:nvPr/>
        </p:nvSpPr>
        <p:spPr>
          <a:xfrm>
            <a:off x="5074920" y="2468880"/>
            <a:ext cx="3634200" cy="994320"/>
          </a:xfrm>
          <a:prstGeom prst="roundRect">
            <a:avLst>
              <a:gd name="adj" fmla="val 6897"/>
            </a:avLst>
          </a:prstGeom>
          <a:solidFill>
            <a:srgbClr val="152B47"/>
          </a:solidFill>
          <a:ln w="2540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5"/>
          <p:cNvSpPr/>
          <p:nvPr/>
        </p:nvSpPr>
        <p:spPr>
          <a:xfrm>
            <a:off x="5177520" y="2537280"/>
            <a:ext cx="1508400" cy="8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6B35"/>
                </a:solidFill>
                <a:effectLst/>
                <a:uFillTx/>
                <a:latin typeface="Arial Black"/>
                <a:ea typeface="Arial Black"/>
              </a:rPr>
              <a:t>$4.2k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6"/>
          <p:cNvSpPr/>
          <p:nvPr/>
        </p:nvSpPr>
        <p:spPr>
          <a:xfrm>
            <a:off x="6755040" y="2709000"/>
            <a:ext cx="185112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Production pod / drone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7"/>
          <p:cNvSpPr/>
          <p:nvPr/>
        </p:nvSpPr>
        <p:spPr>
          <a:xfrm>
            <a:off x="6755040" y="3051720"/>
            <a:ext cx="185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8FA3BD"/>
                </a:solidFill>
                <a:effectLst/>
                <a:uFillTx/>
                <a:latin typeface="Calibri"/>
                <a:ea typeface="Calibri"/>
              </a:rPr>
              <a:t>with thermal + LiDAR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8"/>
          <p:cNvSpPr/>
          <p:nvPr/>
        </p:nvSpPr>
        <p:spPr>
          <a:xfrm>
            <a:off x="5074920" y="3600360"/>
            <a:ext cx="3634200" cy="994320"/>
          </a:xfrm>
          <a:prstGeom prst="roundRect">
            <a:avLst>
              <a:gd name="adj" fmla="val 6897"/>
            </a:avLst>
          </a:prstGeom>
          <a:solidFill>
            <a:srgbClr val="152B47"/>
          </a:solidFill>
          <a:ln w="2540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9"/>
          <p:cNvSpPr/>
          <p:nvPr/>
        </p:nvSpPr>
        <p:spPr>
          <a:xfrm>
            <a:off x="5177520" y="3669120"/>
            <a:ext cx="1508400" cy="8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6B35"/>
                </a:solidFill>
                <a:effectLst/>
                <a:uFillTx/>
                <a:latin typeface="Arial Black"/>
                <a:ea typeface="Arial Black"/>
              </a:rPr>
              <a:t>ANY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0"/>
          <p:cNvSpPr/>
          <p:nvPr/>
        </p:nvSpPr>
        <p:spPr>
          <a:xfrm>
            <a:off x="6754680" y="3840480"/>
            <a:ext cx="185148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Pixhawk-compatible airframe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1"/>
          <p:cNvSpPr/>
          <p:nvPr/>
        </p:nvSpPr>
        <p:spPr>
          <a:xfrm>
            <a:off x="6754680" y="4183560"/>
            <a:ext cx="185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8FA3BD"/>
                </a:solidFill>
                <a:effectLst/>
                <a:uFillTx/>
                <a:latin typeface="Calibri"/>
                <a:ea typeface="Calibri"/>
              </a:rPr>
              <a:t>MAVLink standard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32"/>
          <p:cNvSpPr/>
          <p:nvPr/>
        </p:nvSpPr>
        <p:spPr>
          <a:xfrm>
            <a:off x="411480" y="4834800"/>
            <a:ext cx="27428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300" strike="noStrike">
                <a:solidFill>
                  <a:srgbClr val="8FA3BD"/>
                </a:solidFill>
                <a:effectLst/>
                <a:uFillTx/>
                <a:latin typeface="Calibri"/>
                <a:ea typeface="Calibri"/>
              </a:rPr>
              <a:t>GRAGG ROBOTICS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33"/>
          <p:cNvSpPr/>
          <p:nvPr/>
        </p:nvSpPr>
        <p:spPr>
          <a:xfrm>
            <a:off x="8023680" y="4834800"/>
            <a:ext cx="6854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FA3BD"/>
                </a:solidFill>
                <a:effectLst/>
                <a:uFillTx/>
                <a:latin typeface="Calibri"/>
                <a:ea typeface="Calibri"/>
              </a:rPr>
              <a:t>5 / 10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0"/>
          <p:cNvSpPr/>
          <p:nvPr/>
        </p:nvSpPr>
        <p:spPr>
          <a:xfrm>
            <a:off x="411480" y="3085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Use Cases — Flying Drones First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"/>
          <p:cNvSpPr/>
          <p:nvPr/>
        </p:nvSpPr>
        <p:spPr>
          <a:xfrm>
            <a:off x="411480" y="85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Same UI + same hardware pod, different mission profiles. Rotor and fixed-wing both supported.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"/>
          <p:cNvSpPr/>
          <p:nvPr/>
        </p:nvSpPr>
        <p:spPr>
          <a:xfrm>
            <a:off x="342720" y="1337040"/>
            <a:ext cx="2777400" cy="1542960"/>
          </a:xfrm>
          <a:prstGeom prst="roundRect">
            <a:avLst>
              <a:gd name="adj" fmla="val 4444"/>
            </a:avLst>
          </a:prstGeom>
          <a:solidFill>
            <a:srgbClr val="152B47"/>
          </a:solidFill>
          <a:ln w="12700">
            <a:solidFill>
              <a:srgbClr val="1F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3"/>
          <p:cNvSpPr/>
          <p:nvPr/>
        </p:nvSpPr>
        <p:spPr>
          <a:xfrm>
            <a:off x="514080" y="1542960"/>
            <a:ext cx="445680" cy="4453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4"/>
          <p:cNvSpPr/>
          <p:nvPr/>
        </p:nvSpPr>
        <p:spPr>
          <a:xfrm>
            <a:off x="514080" y="1542960"/>
            <a:ext cx="445320" cy="4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A1628"/>
                </a:solidFill>
                <a:effectLst/>
                <a:uFillTx/>
                <a:latin typeface="Arial Black"/>
                <a:ea typeface="Arial Black"/>
              </a:rPr>
              <a:t>▲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5"/>
          <p:cNvSpPr/>
          <p:nvPr/>
        </p:nvSpPr>
        <p:spPr>
          <a:xfrm>
            <a:off x="1062720" y="1577160"/>
            <a:ext cx="195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D4FF"/>
                </a:solidFill>
                <a:effectLst/>
                <a:uFillTx/>
                <a:latin typeface="Arial Black"/>
                <a:ea typeface="Arial Black"/>
              </a:rPr>
              <a:t>POWERLINE INSPECTION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6"/>
          <p:cNvSpPr/>
          <p:nvPr/>
        </p:nvSpPr>
        <p:spPr>
          <a:xfrm>
            <a:off x="514080" y="2057400"/>
            <a:ext cx="250272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CMP / Versant / rural utilities. Replace $1,500/hr helicopter with electric drone fleet sweeping 50 mi/day.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7"/>
          <p:cNvSpPr/>
          <p:nvPr/>
        </p:nvSpPr>
        <p:spPr>
          <a:xfrm>
            <a:off x="3223080" y="1337040"/>
            <a:ext cx="2777400" cy="1542960"/>
          </a:xfrm>
          <a:prstGeom prst="roundRect">
            <a:avLst>
              <a:gd name="adj" fmla="val 4444"/>
            </a:avLst>
          </a:prstGeom>
          <a:solidFill>
            <a:srgbClr val="152B47"/>
          </a:solidFill>
          <a:ln w="12700">
            <a:solidFill>
              <a:srgbClr val="1F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8"/>
          <p:cNvSpPr/>
          <p:nvPr/>
        </p:nvSpPr>
        <p:spPr>
          <a:xfrm>
            <a:off x="3394440" y="1542960"/>
            <a:ext cx="445680" cy="4453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9"/>
          <p:cNvSpPr/>
          <p:nvPr/>
        </p:nvSpPr>
        <p:spPr>
          <a:xfrm>
            <a:off x="3394440" y="1542960"/>
            <a:ext cx="445320" cy="4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A1628"/>
                </a:solidFill>
                <a:effectLst/>
                <a:uFillTx/>
                <a:latin typeface="Arial Black"/>
                <a:ea typeface="Arial Black"/>
              </a:rPr>
              <a:t>★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0"/>
          <p:cNvSpPr/>
          <p:nvPr/>
        </p:nvSpPr>
        <p:spPr>
          <a:xfrm>
            <a:off x="3943080" y="1577160"/>
            <a:ext cx="195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D4FF"/>
                </a:solidFill>
                <a:effectLst/>
                <a:uFillTx/>
                <a:latin typeface="Arial Black"/>
                <a:ea typeface="Arial Black"/>
              </a:rPr>
              <a:t>SEARCH &amp; RESCUE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1"/>
          <p:cNvSpPr/>
          <p:nvPr/>
        </p:nvSpPr>
        <p:spPr>
          <a:xfrm>
            <a:off x="3394440" y="2057400"/>
            <a:ext cx="250272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Maine SAR teams cover thousands of sq mi of woodland. 4-drone sweep covers 5× the area of a ground team in the first hour.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2"/>
          <p:cNvSpPr/>
          <p:nvPr/>
        </p:nvSpPr>
        <p:spPr>
          <a:xfrm>
            <a:off x="6103440" y="1337040"/>
            <a:ext cx="2777400" cy="1542960"/>
          </a:xfrm>
          <a:prstGeom prst="roundRect">
            <a:avLst>
              <a:gd name="adj" fmla="val 4444"/>
            </a:avLst>
          </a:prstGeom>
          <a:solidFill>
            <a:srgbClr val="152B47"/>
          </a:solidFill>
          <a:ln w="12700">
            <a:solidFill>
              <a:srgbClr val="1F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3"/>
          <p:cNvSpPr/>
          <p:nvPr/>
        </p:nvSpPr>
        <p:spPr>
          <a:xfrm>
            <a:off x="6274800" y="1542960"/>
            <a:ext cx="445680" cy="4453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4"/>
          <p:cNvSpPr/>
          <p:nvPr/>
        </p:nvSpPr>
        <p:spPr>
          <a:xfrm>
            <a:off x="6274800" y="1542960"/>
            <a:ext cx="445320" cy="4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A1628"/>
                </a:solidFill>
                <a:effectLst/>
                <a:uFillTx/>
                <a:latin typeface="Arial Black"/>
                <a:ea typeface="Arial Black"/>
              </a:rPr>
              <a:t>◆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5"/>
          <p:cNvSpPr/>
          <p:nvPr/>
        </p:nvSpPr>
        <p:spPr>
          <a:xfrm>
            <a:off x="6823440" y="1577160"/>
            <a:ext cx="195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D4FF"/>
                </a:solidFill>
                <a:effectLst/>
                <a:uFillTx/>
                <a:latin typeface="Arial Black"/>
                <a:ea typeface="Arial Black"/>
              </a:rPr>
              <a:t>PRECISION AGRICULTURE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6"/>
          <p:cNvSpPr/>
          <p:nvPr/>
        </p:nvSpPr>
        <p:spPr>
          <a:xfrm>
            <a:off x="6274800" y="2057400"/>
            <a:ext cx="250272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Crop-row scanning, irrigation diagnostics, livestock count. Rural ME farms can't afford one-vendor lock-in.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7"/>
          <p:cNvSpPr/>
          <p:nvPr/>
        </p:nvSpPr>
        <p:spPr>
          <a:xfrm>
            <a:off x="342720" y="3017520"/>
            <a:ext cx="2777400" cy="1542960"/>
          </a:xfrm>
          <a:prstGeom prst="roundRect">
            <a:avLst>
              <a:gd name="adj" fmla="val 4444"/>
            </a:avLst>
          </a:prstGeom>
          <a:solidFill>
            <a:srgbClr val="152B47"/>
          </a:solidFill>
          <a:ln w="12700">
            <a:solidFill>
              <a:srgbClr val="1F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8"/>
          <p:cNvSpPr/>
          <p:nvPr/>
        </p:nvSpPr>
        <p:spPr>
          <a:xfrm>
            <a:off x="514080" y="3223080"/>
            <a:ext cx="445680" cy="4456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9"/>
          <p:cNvSpPr/>
          <p:nvPr/>
        </p:nvSpPr>
        <p:spPr>
          <a:xfrm>
            <a:off x="514080" y="3223080"/>
            <a:ext cx="445320" cy="4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A1628"/>
                </a:solidFill>
                <a:effectLst/>
                <a:uFillTx/>
                <a:latin typeface="Arial Black"/>
                <a:ea typeface="Arial Black"/>
              </a:rPr>
              <a:t>■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0"/>
          <p:cNvSpPr/>
          <p:nvPr/>
        </p:nvSpPr>
        <p:spPr>
          <a:xfrm>
            <a:off x="1062720" y="3257640"/>
            <a:ext cx="195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D4FF"/>
                </a:solidFill>
                <a:effectLst/>
                <a:uFillTx/>
                <a:latin typeface="Arial Black"/>
                <a:ea typeface="Arial Black"/>
              </a:rPr>
              <a:t>PERIMETER SECURITY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1"/>
          <p:cNvSpPr/>
          <p:nvPr/>
        </p:nvSpPr>
        <p:spPr>
          <a:xfrm>
            <a:off x="514080" y="3737520"/>
            <a:ext cx="250272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Critical infrastructure (substations, ports, dams). Continuous patrol with auto re-tasking on intrusion.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2"/>
          <p:cNvSpPr/>
          <p:nvPr/>
        </p:nvSpPr>
        <p:spPr>
          <a:xfrm>
            <a:off x="3223080" y="3017520"/>
            <a:ext cx="2777400" cy="1542960"/>
          </a:xfrm>
          <a:prstGeom prst="roundRect">
            <a:avLst>
              <a:gd name="adj" fmla="val 4444"/>
            </a:avLst>
          </a:prstGeom>
          <a:solidFill>
            <a:srgbClr val="152B47"/>
          </a:solidFill>
          <a:ln w="12700">
            <a:solidFill>
              <a:srgbClr val="1F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23"/>
          <p:cNvSpPr/>
          <p:nvPr/>
        </p:nvSpPr>
        <p:spPr>
          <a:xfrm>
            <a:off x="3394440" y="3223080"/>
            <a:ext cx="445680" cy="4456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4"/>
          <p:cNvSpPr/>
          <p:nvPr/>
        </p:nvSpPr>
        <p:spPr>
          <a:xfrm>
            <a:off x="3394440" y="3223080"/>
            <a:ext cx="445320" cy="4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A1628"/>
                </a:solidFill>
                <a:effectLst/>
                <a:uFillTx/>
                <a:latin typeface="Arial Black"/>
                <a:ea typeface="Arial Black"/>
              </a:rPr>
              <a:t>●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5"/>
          <p:cNvSpPr/>
          <p:nvPr/>
        </p:nvSpPr>
        <p:spPr>
          <a:xfrm>
            <a:off x="3943080" y="3257640"/>
            <a:ext cx="195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D4FF"/>
                </a:solidFill>
                <a:effectLst/>
                <a:uFillTx/>
                <a:latin typeface="Arial Black"/>
                <a:ea typeface="Arial Black"/>
              </a:rPr>
              <a:t>WILDFIRE MONITORING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6"/>
          <p:cNvSpPr/>
          <p:nvPr/>
        </p:nvSpPr>
        <p:spPr>
          <a:xfrm>
            <a:off x="3394440" y="3737520"/>
            <a:ext cx="250272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Thermal sweep over fire perimeter, hot-spot mapping. Hand off to ground crews via map pin in real time.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7"/>
          <p:cNvSpPr/>
          <p:nvPr/>
        </p:nvSpPr>
        <p:spPr>
          <a:xfrm>
            <a:off x="6103440" y="3017520"/>
            <a:ext cx="2777400" cy="1542960"/>
          </a:xfrm>
          <a:prstGeom prst="roundRect">
            <a:avLst>
              <a:gd name="adj" fmla="val 4444"/>
            </a:avLst>
          </a:prstGeom>
          <a:solidFill>
            <a:srgbClr val="152B47"/>
          </a:solidFill>
          <a:ln w="12700">
            <a:solidFill>
              <a:srgbClr val="1F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28"/>
          <p:cNvSpPr/>
          <p:nvPr/>
        </p:nvSpPr>
        <p:spPr>
          <a:xfrm>
            <a:off x="6274800" y="3223080"/>
            <a:ext cx="445680" cy="4456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9"/>
          <p:cNvSpPr/>
          <p:nvPr/>
        </p:nvSpPr>
        <p:spPr>
          <a:xfrm>
            <a:off x="6274800" y="3223080"/>
            <a:ext cx="445320" cy="4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A1628"/>
                </a:solidFill>
                <a:effectLst/>
                <a:uFillTx/>
                <a:latin typeface="Arial Black"/>
                <a:ea typeface="Arial Black"/>
              </a:rPr>
              <a:t>▼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30"/>
          <p:cNvSpPr/>
          <p:nvPr/>
        </p:nvSpPr>
        <p:spPr>
          <a:xfrm>
            <a:off x="6823440" y="3257640"/>
            <a:ext cx="195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D4FF"/>
                </a:solidFill>
                <a:effectLst/>
                <a:uFillTx/>
                <a:latin typeface="Arial Black"/>
                <a:ea typeface="Arial Black"/>
              </a:rPr>
              <a:t>SURVEY / MAPPING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31"/>
          <p:cNvSpPr/>
          <p:nvPr/>
        </p:nvSpPr>
        <p:spPr>
          <a:xfrm>
            <a:off x="6274800" y="3737520"/>
            <a:ext cx="2502720" cy="7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Photogrammetry + LiDAR over construction sites, forest plots, coastlines. Multi-drone shortens mission time.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32"/>
          <p:cNvSpPr/>
          <p:nvPr/>
        </p:nvSpPr>
        <p:spPr>
          <a:xfrm>
            <a:off x="342720" y="4594680"/>
            <a:ext cx="843480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8FA3BD"/>
                </a:solidFill>
                <a:effectLst/>
                <a:uFillTx/>
                <a:latin typeface="Calibri"/>
                <a:ea typeface="Calibri"/>
              </a:rPr>
              <a:t>Beyond flying:  ground rovers and surface vessels use the same UI and pod — different airframe profile only.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33"/>
          <p:cNvSpPr/>
          <p:nvPr/>
        </p:nvSpPr>
        <p:spPr>
          <a:xfrm>
            <a:off x="411480" y="4834800"/>
            <a:ext cx="27428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300" strike="noStrike">
                <a:solidFill>
                  <a:srgbClr val="8FA3BD"/>
                </a:solidFill>
                <a:effectLst/>
                <a:uFillTx/>
                <a:latin typeface="Calibri"/>
                <a:ea typeface="Calibri"/>
              </a:rPr>
              <a:t>GRAGG ROBOTICS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34"/>
          <p:cNvSpPr/>
          <p:nvPr/>
        </p:nvSpPr>
        <p:spPr>
          <a:xfrm>
            <a:off x="8023680" y="4834800"/>
            <a:ext cx="6854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FA3BD"/>
                </a:solidFill>
                <a:effectLst/>
                <a:uFillTx/>
                <a:latin typeface="Calibri"/>
                <a:ea typeface="Calibri"/>
              </a:rPr>
              <a:t>6 / 10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 0"/>
          <p:cNvSpPr/>
          <p:nvPr/>
        </p:nvSpPr>
        <p:spPr>
          <a:xfrm>
            <a:off x="411120" y="308520"/>
            <a:ext cx="8229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Why Now  •  Why Maine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"/>
          <p:cNvSpPr/>
          <p:nvPr/>
        </p:nvSpPr>
        <p:spPr>
          <a:xfrm>
            <a:off x="411120" y="1063080"/>
            <a:ext cx="4114800" cy="3463200"/>
          </a:xfrm>
          <a:prstGeom prst="roundRect">
            <a:avLst>
              <a:gd name="adj" fmla="val 2970"/>
            </a:avLst>
          </a:prstGeom>
          <a:solidFill>
            <a:srgbClr val="152B47"/>
          </a:solidFill>
          <a:ln w="254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"/>
          <p:cNvSpPr/>
          <p:nvPr/>
        </p:nvSpPr>
        <p:spPr>
          <a:xfrm>
            <a:off x="685800" y="1337400"/>
            <a:ext cx="35658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pc="400" strike="noStrike">
                <a:solidFill>
                  <a:srgbClr val="00D4FF"/>
                </a:solidFill>
                <a:effectLst/>
                <a:uFillTx/>
                <a:latin typeface="Arial Black"/>
                <a:ea typeface="Arial Black"/>
              </a:rPr>
              <a:t>WHY NOW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3"/>
          <p:cNvSpPr/>
          <p:nvPr/>
        </p:nvSpPr>
        <p:spPr>
          <a:xfrm>
            <a:off x="719640" y="2036880"/>
            <a:ext cx="123120" cy="123120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4"/>
          <p:cNvSpPr/>
          <p:nvPr/>
        </p:nvSpPr>
        <p:spPr>
          <a:xfrm>
            <a:off x="994320" y="1885680"/>
            <a:ext cx="3394440" cy="5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DoD AFWERX is explicitly funding drone-swarm autonomy in 2026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5"/>
          <p:cNvSpPr/>
          <p:nvPr/>
        </p:nvSpPr>
        <p:spPr>
          <a:xfrm>
            <a:off x="719640" y="2688480"/>
            <a:ext cx="123120" cy="123120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6"/>
          <p:cNvSpPr/>
          <p:nvPr/>
        </p:nvSpPr>
        <p:spPr>
          <a:xfrm>
            <a:off x="994320" y="2537280"/>
            <a:ext cx="3394440" cy="5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Foreign-vendor restrictions (DJI, Autel) accelerating the domestic pivot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7"/>
          <p:cNvSpPr/>
          <p:nvPr/>
        </p:nvSpPr>
        <p:spPr>
          <a:xfrm>
            <a:off x="719640" y="3340080"/>
            <a:ext cx="123120" cy="123120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8"/>
          <p:cNvSpPr/>
          <p:nvPr/>
        </p:nvSpPr>
        <p:spPr>
          <a:xfrm>
            <a:off x="994320" y="3188880"/>
            <a:ext cx="3394440" cy="5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BVLOS waiver pathway opening for commercial ops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9"/>
          <p:cNvSpPr/>
          <p:nvPr/>
        </p:nvSpPr>
        <p:spPr>
          <a:xfrm>
            <a:off x="719640" y="3991680"/>
            <a:ext cx="123120" cy="123120"/>
          </a:xfrm>
          <a:prstGeom prst="rect">
            <a:avLst/>
          </a:prstGeom>
          <a:solidFill>
            <a:srgbClr val="00D4FF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0"/>
          <p:cNvSpPr/>
          <p:nvPr/>
        </p:nvSpPr>
        <p:spPr>
          <a:xfrm>
            <a:off x="994320" y="3840480"/>
            <a:ext cx="3394440" cy="5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MAVLink ecosystem mature — vendor-agnostic stack is now feasible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1"/>
          <p:cNvSpPr/>
          <p:nvPr/>
        </p:nvSpPr>
        <p:spPr>
          <a:xfrm>
            <a:off x="4663080" y="1063080"/>
            <a:ext cx="4114800" cy="3463200"/>
          </a:xfrm>
          <a:prstGeom prst="roundRect">
            <a:avLst>
              <a:gd name="adj" fmla="val 2970"/>
            </a:avLst>
          </a:prstGeom>
          <a:solidFill>
            <a:srgbClr val="152B47"/>
          </a:solidFill>
          <a:ln w="2540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2"/>
          <p:cNvSpPr/>
          <p:nvPr/>
        </p:nvSpPr>
        <p:spPr>
          <a:xfrm>
            <a:off x="4937760" y="1337400"/>
            <a:ext cx="35658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pc="400" strike="noStrike">
                <a:solidFill>
                  <a:srgbClr val="FF6B35"/>
                </a:solidFill>
                <a:effectLst/>
                <a:uFillTx/>
                <a:latin typeface="Arial Black"/>
                <a:ea typeface="Arial Black"/>
              </a:rPr>
              <a:t>WHY MAINE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3"/>
          <p:cNvSpPr/>
          <p:nvPr/>
        </p:nvSpPr>
        <p:spPr>
          <a:xfrm>
            <a:off x="4971600" y="2036880"/>
            <a:ext cx="123120" cy="123120"/>
          </a:xfrm>
          <a:prstGeom prst="rect">
            <a:avLst/>
          </a:prstGeom>
          <a:solidFill>
            <a:srgbClr val="FF6B35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4"/>
          <p:cNvSpPr/>
          <p:nvPr/>
        </p:nvSpPr>
        <p:spPr>
          <a:xfrm>
            <a:off x="5246280" y="1885680"/>
            <a:ext cx="3394440" cy="5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Vast rural test space — woods, coastline, low air traffic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5"/>
          <p:cNvSpPr/>
          <p:nvPr/>
        </p:nvSpPr>
        <p:spPr>
          <a:xfrm>
            <a:off x="4971600" y="2688480"/>
            <a:ext cx="123120" cy="123120"/>
          </a:xfrm>
          <a:prstGeom prst="rect">
            <a:avLst/>
          </a:prstGeom>
          <a:solidFill>
            <a:srgbClr val="FF6B35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6"/>
          <p:cNvSpPr/>
          <p:nvPr/>
        </p:nvSpPr>
        <p:spPr>
          <a:xfrm>
            <a:off x="5246280" y="2537280"/>
            <a:ext cx="3394440" cy="5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Low operational cost vs Boston / DC tech corridors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7"/>
          <p:cNvSpPr/>
          <p:nvPr/>
        </p:nvSpPr>
        <p:spPr>
          <a:xfrm>
            <a:off x="4971600" y="3340080"/>
            <a:ext cx="123120" cy="123120"/>
          </a:xfrm>
          <a:prstGeom prst="rect">
            <a:avLst/>
          </a:prstGeom>
          <a:solidFill>
            <a:srgbClr val="FF6B35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8"/>
          <p:cNvSpPr/>
          <p:nvPr/>
        </p:nvSpPr>
        <p:spPr>
          <a:xfrm>
            <a:off x="5246280" y="3188880"/>
            <a:ext cx="3394440" cy="5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MTI funding favors hard-tech locals (high signal of fit)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9"/>
          <p:cNvSpPr/>
          <p:nvPr/>
        </p:nvSpPr>
        <p:spPr>
          <a:xfrm>
            <a:off x="4971600" y="3991680"/>
            <a:ext cx="123120" cy="123120"/>
          </a:xfrm>
          <a:prstGeom prst="rect">
            <a:avLst/>
          </a:prstGeom>
          <a:solidFill>
            <a:srgbClr val="FF6B35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0"/>
          <p:cNvSpPr/>
          <p:nvPr/>
        </p:nvSpPr>
        <p:spPr>
          <a:xfrm>
            <a:off x="5246280" y="3840480"/>
            <a:ext cx="3394440" cy="58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Solo founder, full-time committed, Waterville-based — no relocation drag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1"/>
          <p:cNvSpPr/>
          <p:nvPr/>
        </p:nvSpPr>
        <p:spPr>
          <a:xfrm>
            <a:off x="411480" y="4834800"/>
            <a:ext cx="27428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300" strike="noStrike">
                <a:solidFill>
                  <a:srgbClr val="8FA3BD"/>
                </a:solidFill>
                <a:effectLst/>
                <a:uFillTx/>
                <a:latin typeface="Calibri"/>
                <a:ea typeface="Calibri"/>
              </a:rPr>
              <a:t>GRAGG ROBOTICS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2"/>
          <p:cNvSpPr/>
          <p:nvPr/>
        </p:nvSpPr>
        <p:spPr>
          <a:xfrm>
            <a:off x="8023680" y="4834800"/>
            <a:ext cx="6854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FA3BD"/>
                </a:solidFill>
                <a:effectLst/>
                <a:uFillTx/>
                <a:latin typeface="Calibri"/>
                <a:ea typeface="Calibri"/>
              </a:rPr>
              <a:t>7 / 10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 0"/>
          <p:cNvSpPr/>
          <p:nvPr/>
        </p:nvSpPr>
        <p:spPr>
          <a:xfrm>
            <a:off x="411480" y="3085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Two-Stage Roadmap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"/>
          <p:cNvSpPr/>
          <p:nvPr/>
        </p:nvSpPr>
        <p:spPr>
          <a:xfrm>
            <a:off x="411480" y="85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Stage 1 proves it flies and earns first money. Stage 2 productizes the fleet.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2"/>
          <p:cNvSpPr/>
          <p:nvPr/>
        </p:nvSpPr>
        <p:spPr>
          <a:xfrm>
            <a:off x="411480" y="1337040"/>
            <a:ext cx="4114440" cy="3326040"/>
          </a:xfrm>
          <a:prstGeom prst="roundRect">
            <a:avLst>
              <a:gd name="adj" fmla="val 3093"/>
            </a:avLst>
          </a:prstGeom>
          <a:solidFill>
            <a:srgbClr val="152B47"/>
          </a:solidFill>
          <a:ln w="25400">
            <a:solidFill>
              <a:srgbClr val="00D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3"/>
          <p:cNvSpPr/>
          <p:nvPr/>
        </p:nvSpPr>
        <p:spPr>
          <a:xfrm>
            <a:off x="685800" y="15771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STAGE 1  •  6-9 MONTHS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4"/>
          <p:cNvSpPr/>
          <p:nvPr/>
        </p:nvSpPr>
        <p:spPr>
          <a:xfrm>
            <a:off x="685440" y="1920240"/>
            <a:ext cx="3566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POC + FIRST MONEY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5"/>
          <p:cNvSpPr/>
          <p:nvPr/>
        </p:nvSpPr>
        <p:spPr>
          <a:xfrm>
            <a:off x="685800" y="2434680"/>
            <a:ext cx="205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D4FF"/>
                </a:solidFill>
                <a:effectLst/>
                <a:uFillTx/>
                <a:latin typeface="Arial Black"/>
                <a:ea typeface="Arial Black"/>
              </a:rPr>
              <a:t>›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6"/>
          <p:cNvSpPr/>
          <p:nvPr/>
        </p:nvSpPr>
        <p:spPr>
          <a:xfrm>
            <a:off x="891360" y="2434680"/>
            <a:ext cx="3428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4-drone POC, all 6 commands working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7"/>
          <p:cNvSpPr/>
          <p:nvPr/>
        </p:nvSpPr>
        <p:spPr>
          <a:xfrm>
            <a:off x="685800" y="2722680"/>
            <a:ext cx="205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D4FF"/>
                </a:solidFill>
                <a:effectLst/>
                <a:uFillTx/>
                <a:latin typeface="Arial Black"/>
                <a:ea typeface="Arial Black"/>
              </a:rPr>
              <a:t>›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8"/>
          <p:cNvSpPr/>
          <p:nvPr/>
        </p:nvSpPr>
        <p:spPr>
          <a:xfrm>
            <a:off x="891360" y="2722680"/>
            <a:ext cx="3428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Maine LLC formed, Part 107 in hand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9"/>
          <p:cNvSpPr/>
          <p:nvPr/>
        </p:nvSpPr>
        <p:spPr>
          <a:xfrm>
            <a:off x="685800" y="3010680"/>
            <a:ext cx="205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D4FF"/>
                </a:solidFill>
                <a:effectLst/>
                <a:uFillTx/>
                <a:latin typeface="Arial Black"/>
                <a:ea typeface="Arial Black"/>
              </a:rPr>
              <a:t>›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0"/>
          <p:cNvSpPr/>
          <p:nvPr/>
        </p:nvSpPr>
        <p:spPr>
          <a:xfrm>
            <a:off x="891000" y="3010680"/>
            <a:ext cx="3429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MTI grant ($25k) submitted M1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1"/>
          <p:cNvSpPr/>
          <p:nvPr/>
        </p:nvSpPr>
        <p:spPr>
          <a:xfrm>
            <a:off x="685800" y="3298680"/>
            <a:ext cx="205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D4FF"/>
                </a:solidFill>
                <a:effectLst/>
                <a:uFillTx/>
                <a:latin typeface="Arial Black"/>
                <a:ea typeface="Arial Black"/>
              </a:rPr>
              <a:t>›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2"/>
          <p:cNvSpPr/>
          <p:nvPr/>
        </p:nvSpPr>
        <p:spPr>
          <a:xfrm>
            <a:off x="891000" y="3298680"/>
            <a:ext cx="3429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AFWERX SBIR Phase I submitted M3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3"/>
          <p:cNvSpPr/>
          <p:nvPr/>
        </p:nvSpPr>
        <p:spPr>
          <a:xfrm>
            <a:off x="685800" y="3586680"/>
            <a:ext cx="205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D4FF"/>
                </a:solidFill>
                <a:effectLst/>
                <a:uFillTx/>
                <a:latin typeface="Arial Black"/>
                <a:ea typeface="Arial Black"/>
              </a:rPr>
              <a:t>›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4"/>
          <p:cNvSpPr/>
          <p:nvPr/>
        </p:nvSpPr>
        <p:spPr>
          <a:xfrm>
            <a:off x="891360" y="3586680"/>
            <a:ext cx="3428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First paying customer pilot M6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5"/>
          <p:cNvSpPr/>
          <p:nvPr/>
        </p:nvSpPr>
        <p:spPr>
          <a:xfrm>
            <a:off x="685800" y="3977640"/>
            <a:ext cx="3565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0D4FF"/>
                </a:solidFill>
                <a:effectLst/>
                <a:uFillTx/>
                <a:latin typeface="Arial Black"/>
                <a:ea typeface="Arial Black"/>
              </a:rPr>
              <a:t>$115k–475k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6"/>
          <p:cNvSpPr/>
          <p:nvPr/>
        </p:nvSpPr>
        <p:spPr>
          <a:xfrm>
            <a:off x="685800" y="4354920"/>
            <a:ext cx="356580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8FA3BD"/>
                </a:solidFill>
                <a:effectLst/>
                <a:uFillTx/>
                <a:latin typeface="Calibri"/>
                <a:ea typeface="Calibri"/>
              </a:rPr>
              <a:t>realistic raise range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7"/>
          <p:cNvSpPr/>
          <p:nvPr/>
        </p:nvSpPr>
        <p:spPr>
          <a:xfrm>
            <a:off x="4663440" y="1337040"/>
            <a:ext cx="4114440" cy="3326040"/>
          </a:xfrm>
          <a:prstGeom prst="roundRect">
            <a:avLst>
              <a:gd name="adj" fmla="val 3093"/>
            </a:avLst>
          </a:prstGeom>
          <a:solidFill>
            <a:srgbClr val="152B47"/>
          </a:solidFill>
          <a:ln w="2540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8"/>
          <p:cNvSpPr/>
          <p:nvPr/>
        </p:nvSpPr>
        <p:spPr>
          <a:xfrm>
            <a:off x="4937760" y="15771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STAGE 2  •  12-18 MONTHS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9"/>
          <p:cNvSpPr/>
          <p:nvPr/>
        </p:nvSpPr>
        <p:spPr>
          <a:xfrm>
            <a:off x="4937760" y="1920240"/>
            <a:ext cx="3565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PRODUCTION FLEET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0"/>
          <p:cNvSpPr/>
          <p:nvPr/>
        </p:nvSpPr>
        <p:spPr>
          <a:xfrm>
            <a:off x="4937760" y="2434680"/>
            <a:ext cx="205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6B35"/>
                </a:solidFill>
                <a:effectLst/>
                <a:uFillTx/>
                <a:latin typeface="Arial Black"/>
                <a:ea typeface="Arial Black"/>
              </a:rPr>
              <a:t>›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1"/>
          <p:cNvSpPr/>
          <p:nvPr/>
        </p:nvSpPr>
        <p:spPr>
          <a:xfrm>
            <a:off x="5143320" y="2434680"/>
            <a:ext cx="3428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12-drone production fleet operational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2"/>
          <p:cNvSpPr/>
          <p:nvPr/>
        </p:nvSpPr>
        <p:spPr>
          <a:xfrm>
            <a:off x="4937760" y="2722680"/>
            <a:ext cx="205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6B35"/>
                </a:solidFill>
                <a:effectLst/>
                <a:uFillTx/>
                <a:latin typeface="Arial Black"/>
                <a:ea typeface="Arial Black"/>
              </a:rPr>
              <a:t>›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3"/>
          <p:cNvSpPr/>
          <p:nvPr/>
        </p:nvSpPr>
        <p:spPr>
          <a:xfrm>
            <a:off x="5142960" y="2722680"/>
            <a:ext cx="3429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BVLOS waiver granted or in final review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4"/>
          <p:cNvSpPr/>
          <p:nvPr/>
        </p:nvSpPr>
        <p:spPr>
          <a:xfrm>
            <a:off x="4937760" y="3010680"/>
            <a:ext cx="205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6B35"/>
                </a:solidFill>
                <a:effectLst/>
                <a:uFillTx/>
                <a:latin typeface="Arial Black"/>
                <a:ea typeface="Arial Black"/>
              </a:rPr>
              <a:t>›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5"/>
          <p:cNvSpPr/>
          <p:nvPr/>
        </p:nvSpPr>
        <p:spPr>
          <a:xfrm>
            <a:off x="5143320" y="3010680"/>
            <a:ext cx="3428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3-5 paying customers, recurring revenue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6"/>
          <p:cNvSpPr/>
          <p:nvPr/>
        </p:nvSpPr>
        <p:spPr>
          <a:xfrm>
            <a:off x="4937760" y="3298680"/>
            <a:ext cx="205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6B35"/>
                </a:solidFill>
                <a:effectLst/>
                <a:uFillTx/>
                <a:latin typeface="Arial Black"/>
                <a:ea typeface="Arial Black"/>
              </a:rPr>
              <a:t>›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7"/>
          <p:cNvSpPr/>
          <p:nvPr/>
        </p:nvSpPr>
        <p:spPr>
          <a:xfrm>
            <a:off x="5142960" y="3298680"/>
            <a:ext cx="3429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AFWERX SBIR Phase II ($750k-1.5M)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8"/>
          <p:cNvSpPr/>
          <p:nvPr/>
        </p:nvSpPr>
        <p:spPr>
          <a:xfrm>
            <a:off x="4937760" y="3586680"/>
            <a:ext cx="205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6B35"/>
                </a:solidFill>
                <a:effectLst/>
                <a:uFillTx/>
                <a:latin typeface="Arial Black"/>
                <a:ea typeface="Arial Black"/>
              </a:rPr>
              <a:t>›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9"/>
          <p:cNvSpPr/>
          <p:nvPr/>
        </p:nvSpPr>
        <p:spPr>
          <a:xfrm>
            <a:off x="5143320" y="3586680"/>
            <a:ext cx="3428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Seed round ($1-2M) — Shield / AFF / Lux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30"/>
          <p:cNvSpPr/>
          <p:nvPr/>
        </p:nvSpPr>
        <p:spPr>
          <a:xfrm>
            <a:off x="4937760" y="3977640"/>
            <a:ext cx="3565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6B35"/>
                </a:solidFill>
                <a:effectLst/>
                <a:uFillTx/>
                <a:latin typeface="Arial Black"/>
                <a:ea typeface="Arial Black"/>
              </a:rPr>
              <a:t>$1.85M–4M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31"/>
          <p:cNvSpPr/>
          <p:nvPr/>
        </p:nvSpPr>
        <p:spPr>
          <a:xfrm>
            <a:off x="4937760" y="4354920"/>
            <a:ext cx="356580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8FA3BD"/>
                </a:solidFill>
                <a:effectLst/>
                <a:uFillTx/>
                <a:latin typeface="Calibri"/>
                <a:ea typeface="Calibri"/>
              </a:rPr>
              <a:t>realistic raise range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2"/>
          <p:cNvSpPr/>
          <p:nvPr/>
        </p:nvSpPr>
        <p:spPr>
          <a:xfrm>
            <a:off x="411480" y="4834800"/>
            <a:ext cx="27428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300" strike="noStrike">
                <a:solidFill>
                  <a:srgbClr val="8FA3BD"/>
                </a:solidFill>
                <a:effectLst/>
                <a:uFillTx/>
                <a:latin typeface="Calibri"/>
                <a:ea typeface="Calibri"/>
              </a:rPr>
              <a:t>GRAGG ROBOTICS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33"/>
          <p:cNvSpPr/>
          <p:nvPr/>
        </p:nvSpPr>
        <p:spPr>
          <a:xfrm>
            <a:off x="8023680" y="4834800"/>
            <a:ext cx="6854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FA3BD"/>
                </a:solidFill>
                <a:effectLst/>
                <a:uFillTx/>
                <a:latin typeface="Calibri"/>
                <a:ea typeface="Calibri"/>
              </a:rPr>
              <a:t>8 / 10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 0"/>
          <p:cNvSpPr/>
          <p:nvPr/>
        </p:nvSpPr>
        <p:spPr>
          <a:xfrm>
            <a:off x="411480" y="3085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How Maine APEX Can Help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"/>
          <p:cNvSpPr/>
          <p:nvPr/>
        </p:nvSpPr>
        <p:spPr>
          <a:xfrm>
            <a:off x="411480" y="857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Federal-contracting expertise we don't have in-house — exactly what APEX exists for.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2"/>
          <p:cNvSpPr/>
          <p:nvPr/>
        </p:nvSpPr>
        <p:spPr>
          <a:xfrm>
            <a:off x="411120" y="1337040"/>
            <a:ext cx="8298000" cy="685800"/>
          </a:xfrm>
          <a:prstGeom prst="roundRect">
            <a:avLst>
              <a:gd name="adj" fmla="val 10000"/>
            </a:avLst>
          </a:prstGeom>
          <a:solidFill>
            <a:srgbClr val="152B47"/>
          </a:solidFill>
          <a:ln w="12700">
            <a:solidFill>
              <a:srgbClr val="1F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3"/>
          <p:cNvSpPr/>
          <p:nvPr/>
        </p:nvSpPr>
        <p:spPr>
          <a:xfrm>
            <a:off x="582480" y="1460880"/>
            <a:ext cx="445680" cy="4453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4"/>
          <p:cNvSpPr/>
          <p:nvPr/>
        </p:nvSpPr>
        <p:spPr>
          <a:xfrm>
            <a:off x="582840" y="1460520"/>
            <a:ext cx="445320" cy="4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A1628"/>
                </a:solidFill>
                <a:effectLst/>
                <a:uFillTx/>
                <a:latin typeface="Arial Black"/>
                <a:ea typeface="Arial Black"/>
              </a:rPr>
              <a:t>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5"/>
          <p:cNvSpPr/>
          <p:nvPr/>
        </p:nvSpPr>
        <p:spPr>
          <a:xfrm>
            <a:off x="1165320" y="1419480"/>
            <a:ext cx="7200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D4FF"/>
                </a:solidFill>
                <a:effectLst/>
                <a:uFillTx/>
                <a:latin typeface="Arial Black"/>
                <a:ea typeface="Arial Black"/>
              </a:rPr>
              <a:t>AFWERX SBIR PHASE I PREP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6"/>
          <p:cNvSpPr/>
          <p:nvPr/>
        </p:nvSpPr>
        <p:spPr>
          <a:xfrm>
            <a:off x="1165680" y="1680120"/>
            <a:ext cx="72003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Proposal package ready to submit immediately when next window opens (estimated June-August 2026). Need APEX review of technical narrative + commercial pitch + budget.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7"/>
          <p:cNvSpPr/>
          <p:nvPr/>
        </p:nvSpPr>
        <p:spPr>
          <a:xfrm>
            <a:off x="411120" y="2112120"/>
            <a:ext cx="8298000" cy="685800"/>
          </a:xfrm>
          <a:prstGeom prst="roundRect">
            <a:avLst>
              <a:gd name="adj" fmla="val 10000"/>
            </a:avLst>
          </a:prstGeom>
          <a:solidFill>
            <a:srgbClr val="152B47"/>
          </a:solidFill>
          <a:ln w="12700">
            <a:solidFill>
              <a:srgbClr val="1F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8"/>
          <p:cNvSpPr/>
          <p:nvPr/>
        </p:nvSpPr>
        <p:spPr>
          <a:xfrm>
            <a:off x="582480" y="2235600"/>
            <a:ext cx="445680" cy="4453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9"/>
          <p:cNvSpPr/>
          <p:nvPr/>
        </p:nvSpPr>
        <p:spPr>
          <a:xfrm>
            <a:off x="582840" y="2235600"/>
            <a:ext cx="445320" cy="4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A1628"/>
                </a:solidFill>
                <a:effectLst/>
                <a:uFillTx/>
                <a:latin typeface="Arial Black"/>
                <a:ea typeface="Arial Black"/>
              </a:rPr>
              <a:t>2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0"/>
          <p:cNvSpPr/>
          <p:nvPr/>
        </p:nvSpPr>
        <p:spPr>
          <a:xfrm>
            <a:off x="1165320" y="2194560"/>
            <a:ext cx="7200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D4FF"/>
                </a:solidFill>
                <a:effectLst/>
                <a:uFillTx/>
                <a:latin typeface="Arial Black"/>
                <a:ea typeface="Arial Black"/>
              </a:rPr>
              <a:t>SAM.GOV / DUNS / CAGE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1"/>
          <p:cNvSpPr/>
          <p:nvPr/>
        </p:nvSpPr>
        <p:spPr>
          <a:xfrm>
            <a:off x="1165680" y="2455200"/>
            <a:ext cx="72003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Walk-through of federal contracting registration. First-time founder, never registered before. Want it done right the first time.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2"/>
          <p:cNvSpPr/>
          <p:nvPr/>
        </p:nvSpPr>
        <p:spPr>
          <a:xfrm>
            <a:off x="411120" y="2886840"/>
            <a:ext cx="8298000" cy="685800"/>
          </a:xfrm>
          <a:prstGeom prst="roundRect">
            <a:avLst>
              <a:gd name="adj" fmla="val 10000"/>
            </a:avLst>
          </a:prstGeom>
          <a:solidFill>
            <a:srgbClr val="152B47"/>
          </a:solidFill>
          <a:ln w="12700">
            <a:solidFill>
              <a:srgbClr val="1F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3"/>
          <p:cNvSpPr/>
          <p:nvPr/>
        </p:nvSpPr>
        <p:spPr>
          <a:xfrm>
            <a:off x="582480" y="3010680"/>
            <a:ext cx="445680" cy="4456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4"/>
          <p:cNvSpPr/>
          <p:nvPr/>
        </p:nvSpPr>
        <p:spPr>
          <a:xfrm>
            <a:off x="582840" y="3010680"/>
            <a:ext cx="445320" cy="4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A1628"/>
                </a:solidFill>
                <a:effectLst/>
                <a:uFillTx/>
                <a:latin typeface="Arial Black"/>
                <a:ea typeface="Arial Black"/>
              </a:rPr>
              <a:t>3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5"/>
          <p:cNvSpPr/>
          <p:nvPr/>
        </p:nvSpPr>
        <p:spPr>
          <a:xfrm>
            <a:off x="1165680" y="2969640"/>
            <a:ext cx="7200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D4FF"/>
                </a:solidFill>
                <a:effectLst/>
                <a:uFillTx/>
                <a:latin typeface="Arial Black"/>
                <a:ea typeface="Arial Black"/>
              </a:rPr>
              <a:t>FEDERAL PATHS BEYOND AFWERX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6"/>
          <p:cNvSpPr/>
          <p:nvPr/>
        </p:nvSpPr>
        <p:spPr>
          <a:xfrm>
            <a:off x="1165680" y="3229920"/>
            <a:ext cx="72003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Identify other agencies that fit — DoD STTR, DHS S&amp;T, DoE for grid inspection, NASA for terrain mapping. Multi-agency strategy beats single-agency dependency.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7"/>
          <p:cNvSpPr/>
          <p:nvPr/>
        </p:nvSpPr>
        <p:spPr>
          <a:xfrm>
            <a:off x="411120" y="3662280"/>
            <a:ext cx="8298000" cy="685800"/>
          </a:xfrm>
          <a:prstGeom prst="roundRect">
            <a:avLst>
              <a:gd name="adj" fmla="val 10000"/>
            </a:avLst>
          </a:prstGeom>
          <a:solidFill>
            <a:srgbClr val="152B47"/>
          </a:solidFill>
          <a:ln w="12700">
            <a:solidFill>
              <a:srgbClr val="1F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8"/>
          <p:cNvSpPr/>
          <p:nvPr/>
        </p:nvSpPr>
        <p:spPr>
          <a:xfrm>
            <a:off x="582480" y="3785760"/>
            <a:ext cx="445680" cy="4453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9"/>
          <p:cNvSpPr/>
          <p:nvPr/>
        </p:nvSpPr>
        <p:spPr>
          <a:xfrm>
            <a:off x="582840" y="3785760"/>
            <a:ext cx="445320" cy="4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A1628"/>
                </a:solidFill>
                <a:effectLst/>
                <a:uFillTx/>
                <a:latin typeface="Arial Black"/>
                <a:ea typeface="Arial Black"/>
              </a:rPr>
              <a:t>4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20"/>
          <p:cNvSpPr/>
          <p:nvPr/>
        </p:nvSpPr>
        <p:spPr>
          <a:xfrm>
            <a:off x="1165680" y="3744360"/>
            <a:ext cx="7200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D4FF"/>
                </a:solidFill>
                <a:effectLst/>
                <a:uFillTx/>
                <a:latin typeface="Arial Black"/>
                <a:ea typeface="Arial Black"/>
              </a:rPr>
              <a:t>MAINE SBIR/STTR ECOSYSTEM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1"/>
          <p:cNvSpPr/>
          <p:nvPr/>
        </p:nvSpPr>
        <p:spPr>
          <a:xfrm>
            <a:off x="1165680" y="4005360"/>
            <a:ext cx="72003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Intros to other Maine APEX clients running adjacent programs. Network effects matter for solo founders.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2"/>
          <p:cNvSpPr/>
          <p:nvPr/>
        </p:nvSpPr>
        <p:spPr>
          <a:xfrm>
            <a:off x="411480" y="4834800"/>
            <a:ext cx="27428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300" strike="noStrike">
                <a:solidFill>
                  <a:srgbClr val="8FA3BD"/>
                </a:solidFill>
                <a:effectLst/>
                <a:uFillTx/>
                <a:latin typeface="Calibri"/>
                <a:ea typeface="Calibri"/>
              </a:rPr>
              <a:t>GRAGG ROBOTICS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3"/>
          <p:cNvSpPr/>
          <p:nvPr/>
        </p:nvSpPr>
        <p:spPr>
          <a:xfrm>
            <a:off x="8023680" y="4834800"/>
            <a:ext cx="6854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FA3BD"/>
                </a:solidFill>
                <a:effectLst/>
                <a:uFillTx/>
                <a:latin typeface="Calibri"/>
                <a:ea typeface="Calibri"/>
              </a:rPr>
              <a:t>9 / 10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0"/>
          <p:cNvSpPr/>
          <p:nvPr/>
        </p:nvSpPr>
        <p:spPr>
          <a:xfrm>
            <a:off x="5623200" y="1165680"/>
            <a:ext cx="3085920" cy="2743200"/>
          </a:xfrm>
          <a:prstGeom prst="triangle">
            <a:avLst>
              <a:gd name="adj" fmla="val 50000"/>
            </a:avLst>
          </a:prstGeom>
          <a:solidFill>
            <a:srgbClr val="FF6B35"/>
          </a:solidFill>
          <a:ln w="12700">
            <a:solidFill>
              <a:srgbClr val="FF6B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"/>
          <p:cNvSpPr/>
          <p:nvPr/>
        </p:nvSpPr>
        <p:spPr>
          <a:xfrm>
            <a:off x="5829120" y="1371240"/>
            <a:ext cx="3085920" cy="2743200"/>
          </a:xfrm>
          <a:prstGeom prst="triangle">
            <a:avLst>
              <a:gd name="adj" fmla="val 50000"/>
            </a:avLst>
          </a:prstGeom>
          <a:solidFill>
            <a:srgbClr val="00D4FF">
              <a:alpha val="3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2"/>
          <p:cNvSpPr/>
          <p:nvPr/>
        </p:nvSpPr>
        <p:spPr>
          <a:xfrm>
            <a:off x="411480" y="960120"/>
            <a:ext cx="48002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601" strike="noStrike">
                <a:solidFill>
                  <a:srgbClr val="FF6B35"/>
                </a:solidFill>
                <a:effectLst/>
                <a:uFillTx/>
                <a:latin typeface="Calibri"/>
                <a:ea typeface="Calibri"/>
              </a:rPr>
              <a:t>LET'S BUILD THIS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3"/>
          <p:cNvSpPr/>
          <p:nvPr/>
        </p:nvSpPr>
        <p:spPr>
          <a:xfrm>
            <a:off x="411480" y="1337400"/>
            <a:ext cx="480024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rial Black"/>
                <a:ea typeface="Arial Black"/>
              </a:rPr>
              <a:t>Lucas Gragg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4"/>
          <p:cNvSpPr/>
          <p:nvPr/>
        </p:nvSpPr>
        <p:spPr>
          <a:xfrm>
            <a:off x="411480" y="1954440"/>
            <a:ext cx="4800240" cy="3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00D4FF"/>
                </a:solidFill>
                <a:effectLst/>
                <a:uFillTx/>
                <a:latin typeface="Calibri"/>
                <a:ea typeface="Calibri"/>
              </a:rPr>
              <a:t>Founder, Gragg Robotics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5"/>
          <p:cNvSpPr/>
          <p:nvPr/>
        </p:nvSpPr>
        <p:spPr>
          <a:xfrm>
            <a:off x="411480" y="2262960"/>
            <a:ext cx="4800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FA3BD"/>
                </a:solidFill>
                <a:effectLst/>
                <a:uFillTx/>
                <a:latin typeface="Calibri"/>
                <a:ea typeface="Calibri"/>
              </a:rPr>
              <a:t>Maine LLC, formation in progress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6"/>
          <p:cNvSpPr/>
          <p:nvPr/>
        </p:nvSpPr>
        <p:spPr>
          <a:xfrm>
            <a:off x="411480" y="3017520"/>
            <a:ext cx="959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FF6B35"/>
                </a:solidFill>
                <a:effectLst/>
                <a:uFillTx/>
                <a:latin typeface="Arial Black"/>
                <a:ea typeface="Arial Black"/>
              </a:rPr>
              <a:t>EMAIL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7"/>
          <p:cNvSpPr/>
          <p:nvPr/>
        </p:nvSpPr>
        <p:spPr>
          <a:xfrm>
            <a:off x="1371240" y="3017520"/>
            <a:ext cx="3771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lukegragg@gmail.com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8"/>
          <p:cNvSpPr/>
          <p:nvPr/>
        </p:nvSpPr>
        <p:spPr>
          <a:xfrm>
            <a:off x="411480" y="3394800"/>
            <a:ext cx="959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FF6B35"/>
                </a:solidFill>
                <a:effectLst/>
                <a:uFillTx/>
                <a:latin typeface="Arial Black"/>
                <a:ea typeface="Arial Black"/>
              </a:rPr>
              <a:t>PHONE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9"/>
          <p:cNvSpPr/>
          <p:nvPr/>
        </p:nvSpPr>
        <p:spPr>
          <a:xfrm>
            <a:off x="1371600" y="3394800"/>
            <a:ext cx="3771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207-242-7351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0"/>
          <p:cNvSpPr/>
          <p:nvPr/>
        </p:nvSpPr>
        <p:spPr>
          <a:xfrm>
            <a:off x="411480" y="3772080"/>
            <a:ext cx="959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0" strike="noStrike">
                <a:solidFill>
                  <a:srgbClr val="FF6B35"/>
                </a:solidFill>
                <a:effectLst/>
                <a:uFillTx/>
                <a:latin typeface="Arial Black"/>
                <a:ea typeface="Arial Black"/>
              </a:rPr>
              <a:t>ADDRESS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1"/>
          <p:cNvSpPr/>
          <p:nvPr/>
        </p:nvSpPr>
        <p:spPr>
          <a:xfrm>
            <a:off x="1371600" y="3772080"/>
            <a:ext cx="3771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16 Boutelle Ave, Waterville, ME 04901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2"/>
          <p:cNvSpPr/>
          <p:nvPr/>
        </p:nvSpPr>
        <p:spPr>
          <a:xfrm>
            <a:off x="411480" y="4834800"/>
            <a:ext cx="82976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300" strike="noStrike">
                <a:solidFill>
                  <a:srgbClr val="8FA3BD"/>
                </a:solidFill>
                <a:effectLst/>
                <a:uFillTx/>
                <a:latin typeface="Calibri"/>
                <a:ea typeface="Calibri"/>
              </a:rPr>
              <a:t>GRAGG ROBOTICS  •  Universal Multi-Drone Control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</TotalTime>
  <Application>LibreOffice/26.2.2.2$Windows_X86_64 LibreOffice_project/1f77d10d6938fd34972958f64b2bcfa54f8b1ba5</Application>
  <AppVersion>15.0000</AppVersion>
  <Words>0</Words>
  <Paragraphs>0</Paragraphs>
  <Company>Gragg Robotics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2026-05-02T01:21:01Z</dcterms:created>
  <dc:creator>Lucas Gragg</dc:creator>
  <dc:description/>
  <dc:language>en-US</dc:language>
  <cp:lastModifiedBy/>
  <dcterms:modified xsi:type="dcterms:W3CDTF">2026-05-07T08:35:23Z</dcterms:modified>
  <cp:revision>2</cp:revision>
  <dc:subject>PptxGenJS Presentation</dc:subject>
  <dc:title>Gragg Robotics — Universal Multi-Drone Control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